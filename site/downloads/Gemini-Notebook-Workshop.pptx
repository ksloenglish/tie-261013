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slo.tech/nb-teachers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adlet.com/thehkmakslocollege/tech-in-ed-gemini-notebook-workshop-intermediate-level-13-oc-s024b3yqp5avekkd7yhd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762000" y="673100"/>
            <a:ext cx="228600" cy="228600"/>
          </a:xfrm>
          <a:prstGeom prst="rect">
            <a:avLst/>
          </a:prstGeom>
          <a:solidFill>
            <a:srgbClr val="E74627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1193800" y="609600"/>
            <a:ext cx="876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PROFESSIONAL DEVELOPMENT</a:t>
            </a:r>
            <a:endParaRPr lang="en-US" sz="2000" dirty="0"/>
          </a:p>
        </p:txBody>
      </p:sp>
      <p:pic>
        <p:nvPicPr>
          <p:cNvPr id="4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5" name="cover-text-4"/>
          <p:cNvSpPr/>
          <p:nvPr/>
        </p:nvSpPr>
        <p:spPr>
          <a:xfrm>
            <a:off x="762000" y="17272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4"/>
              </a:lnSpc>
              <a:buNone/>
            </a:pPr>
            <a:r>
              <a:rPr lang="en-US" altLang="en-US" sz="6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Workshop</a:t>
            </a:r>
            <a:endParaRPr lang="en-US" sz="6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4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(Intermediate Level)</a:t>
            </a:r>
            <a:endParaRPr lang="en-US" sz="6800" dirty="0"/>
          </a:p>
        </p:txBody>
      </p:sp>
      <p:sp>
        <p:nvSpPr>
          <p:cNvPr id="6" name="cover-text-5"/>
          <p:cNvSpPr/>
          <p:nvPr/>
        </p:nvSpPr>
        <p:spPr>
          <a:xfrm>
            <a:off x="762000" y="41529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“Generate”</a:t>
            </a:r>
            <a:endParaRPr lang="en-US" sz="4500" dirty="0"/>
          </a:p>
        </p:txBody>
      </p:sp>
      <p:sp>
        <p:nvSpPr>
          <p:cNvPr id="7" name="cover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8" name="cover-text-7"/>
          <p:cNvSpPr/>
          <p:nvPr/>
        </p:nvSpPr>
        <p:spPr>
          <a:xfrm>
            <a:off x="762000" y="57531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outputs fit your lesson.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your sources as evidence.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teacher in control.</a:t>
            </a:r>
            <a:endParaRPr lang="en-US" sz="3200" dirty="0"/>
          </a:p>
        </p:txBody>
      </p:sp>
      <p:sp>
        <p:nvSpPr>
          <p:cNvPr id="9" name="cover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over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over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over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cover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over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grounded-text-2"/>
          <p:cNvSpPr/>
          <p:nvPr/>
        </p:nvSpPr>
        <p:spPr>
          <a:xfrm>
            <a:off x="762000" y="889000"/>
            <a:ext cx="14732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different?</a:t>
            </a:r>
            <a:endParaRPr lang="en-US" sz="5700" dirty="0"/>
          </a:p>
        </p:txBody>
      </p:sp>
      <p:sp>
        <p:nvSpPr>
          <p:cNvPr id="4" name="grounded-shape-3"/>
          <p:cNvSpPr/>
          <p:nvPr/>
        </p:nvSpPr>
        <p:spPr>
          <a:xfrm>
            <a:off x="762000" y="3263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grounded-text-4"/>
          <p:cNvSpPr/>
          <p:nvPr/>
        </p:nvSpPr>
        <p:spPr>
          <a:xfrm>
            <a:off x="762000" y="37846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6" name="grounded-text-5"/>
          <p:cNvSpPr/>
          <p:nvPr/>
        </p:nvSpPr>
        <p:spPr>
          <a:xfrm>
            <a:off x="2857500" y="40132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sources you provide.</a:t>
            </a:r>
            <a:endParaRPr lang="en-US" sz="3500" dirty="0"/>
          </a:p>
        </p:txBody>
      </p:sp>
      <p:sp>
        <p:nvSpPr>
          <p:cNvPr id="7" name="grounded-shape-6"/>
          <p:cNvSpPr/>
          <p:nvPr/>
        </p:nvSpPr>
        <p:spPr>
          <a:xfrm>
            <a:off x="2857500" y="50927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grounded-text-7"/>
          <p:cNvSpPr/>
          <p:nvPr/>
        </p:nvSpPr>
        <p:spPr>
          <a:xfrm>
            <a:off x="762000" y="53340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9" name="grounded-text-8"/>
          <p:cNvSpPr/>
          <p:nvPr/>
        </p:nvSpPr>
        <p:spPr>
          <a:xfrm>
            <a:off x="2857500" y="55626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citations you can check.</a:t>
            </a:r>
            <a:endParaRPr lang="en-US" sz="3500" dirty="0"/>
          </a:p>
        </p:txBody>
      </p:sp>
      <p:sp>
        <p:nvSpPr>
          <p:cNvPr id="10" name="grounded-shape-9"/>
          <p:cNvSpPr/>
          <p:nvPr/>
        </p:nvSpPr>
        <p:spPr>
          <a:xfrm>
            <a:off x="2857500" y="66421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grounded-text-10"/>
          <p:cNvSpPr/>
          <p:nvPr/>
        </p:nvSpPr>
        <p:spPr>
          <a:xfrm>
            <a:off x="762000" y="68834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12" name="grounded-text-11"/>
          <p:cNvSpPr/>
          <p:nvPr/>
        </p:nvSpPr>
        <p:spPr>
          <a:xfrm>
            <a:off x="2857500" y="71120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sources into different formats.</a:t>
            </a:r>
            <a:endParaRPr lang="en-US" sz="3500" dirty="0"/>
          </a:p>
        </p:txBody>
      </p:sp>
      <p:sp>
        <p:nvSpPr>
          <p:cNvPr id="13" name="grounded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grounded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grounded-image-14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grounded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grounded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grounded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tudio-text-2"/>
          <p:cNvSpPr/>
          <p:nvPr/>
        </p:nvSpPr>
        <p:spPr>
          <a:xfrm>
            <a:off x="762000" y="889000"/>
            <a:ext cx="1473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Studio tools in our version</a:t>
            </a:r>
            <a:endParaRPr lang="en-US" sz="5500" dirty="0"/>
          </a:p>
        </p:txBody>
      </p:sp>
      <p:sp>
        <p:nvSpPr>
          <p:cNvPr id="4" name="studio-shape-3"/>
          <p:cNvSpPr/>
          <p:nvPr/>
        </p:nvSpPr>
        <p:spPr>
          <a:xfrm>
            <a:off x="762000" y="2463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tudio-text-4"/>
          <p:cNvSpPr/>
          <p:nvPr/>
        </p:nvSpPr>
        <p:spPr>
          <a:xfrm>
            <a:off x="762000" y="3149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3500" dirty="0"/>
          </a:p>
        </p:txBody>
      </p:sp>
      <p:sp>
        <p:nvSpPr>
          <p:cNvPr id="6" name="studio-text-5"/>
          <p:cNvSpPr/>
          <p:nvPr/>
        </p:nvSpPr>
        <p:spPr>
          <a:xfrm>
            <a:off x="762000" y="38735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Mind Maps</a:t>
            </a:r>
            <a:endParaRPr lang="en-US" sz="2900" dirty="0"/>
          </a:p>
        </p:txBody>
      </p:sp>
      <p:sp>
        <p:nvSpPr>
          <p:cNvPr id="7" name="studio-text-6"/>
          <p:cNvSpPr/>
          <p:nvPr/>
        </p:nvSpPr>
        <p:spPr>
          <a:xfrm>
            <a:off x="762000" y="4889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/ hear</a:t>
            </a:r>
            <a:endParaRPr lang="en-US" sz="3500" dirty="0"/>
          </a:p>
        </p:txBody>
      </p:sp>
      <p:sp>
        <p:nvSpPr>
          <p:cNvPr id="8" name="studio-text-7"/>
          <p:cNvSpPr/>
          <p:nvPr/>
        </p:nvSpPr>
        <p:spPr>
          <a:xfrm>
            <a:off x="762000" y="56134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Infographics, Audio, Video</a:t>
            </a:r>
            <a:endParaRPr lang="en-US" sz="2900" dirty="0"/>
          </a:p>
        </p:txBody>
      </p:sp>
      <p:sp>
        <p:nvSpPr>
          <p:cNvPr id="9" name="studio-text-8"/>
          <p:cNvSpPr/>
          <p:nvPr/>
        </p:nvSpPr>
        <p:spPr>
          <a:xfrm>
            <a:off x="762000" y="66167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500" dirty="0"/>
          </a:p>
        </p:txBody>
      </p:sp>
      <p:sp>
        <p:nvSpPr>
          <p:cNvPr id="10" name="studio-text-9"/>
          <p:cNvSpPr/>
          <p:nvPr/>
        </p:nvSpPr>
        <p:spPr>
          <a:xfrm>
            <a:off x="762000" y="73406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Flashcards, Quizzes</a:t>
            </a:r>
            <a:endParaRPr lang="en-US" sz="2900" dirty="0"/>
          </a:p>
        </p:txBody>
      </p:sp>
      <p:sp>
        <p:nvSpPr>
          <p:cNvPr id="11" name="studio-shape-10"/>
          <p:cNvSpPr/>
          <p:nvPr/>
        </p:nvSpPr>
        <p:spPr>
          <a:xfrm>
            <a:off x="8064500" y="2971800"/>
            <a:ext cx="9144" cy="47752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pic>
        <p:nvPicPr>
          <p:cNvPr id="12" name="studio-image-11" descr="preencoded.png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8496300" y="2959100"/>
            <a:ext cx="6997700" cy="4711700"/>
          </a:xfrm>
          <a:prstGeom prst="rect">
            <a:avLst/>
          </a:prstGeom>
        </p:spPr>
      </p:pic>
      <p:sp>
        <p:nvSpPr>
          <p:cNvPr id="13" name="studio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studio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studio-image-14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studio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studio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studio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access-text-2"/>
          <p:cNvSpPr/>
          <p:nvPr/>
        </p:nvSpPr>
        <p:spPr>
          <a:xfrm>
            <a:off x="762000" y="9525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our school route</a:t>
            </a:r>
            <a:endParaRPr lang="en-US" sz="5800" dirty="0"/>
          </a:p>
        </p:txBody>
      </p:sp>
      <p:sp>
        <p:nvSpPr>
          <p:cNvPr id="4" name="access-text-3"/>
          <p:cNvSpPr/>
          <p:nvPr/>
        </p:nvSpPr>
        <p:spPr>
          <a:xfrm>
            <a:off x="762000" y="23241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0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kslo.tech/nb-teachers</a:t>
            </a:r>
            <a:endParaRPr lang="en-US" sz="5000" dirty="0"/>
          </a:p>
        </p:txBody>
      </p:sp>
      <p:sp>
        <p:nvSpPr>
          <p:cNvPr id="5" name="access-shape-4"/>
          <p:cNvSpPr/>
          <p:nvPr/>
        </p:nvSpPr>
        <p:spPr>
          <a:xfrm>
            <a:off x="762000" y="3594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access-text-5"/>
          <p:cNvSpPr/>
          <p:nvPr/>
        </p:nvSpPr>
        <p:spPr>
          <a:xfrm>
            <a:off x="762000" y="4216400"/>
            <a:ext cx="10477500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kslo.tech/nb-teachers.</a:t>
            </a:r>
            <a:endParaRPr lang="en-US" sz="3200" dirty="0"/>
          </a:p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school’s link—not a retail tutorial link.</a:t>
            </a:r>
            <a:endParaRPr lang="en-US" sz="3200" dirty="0"/>
          </a:p>
          <a:p>
            <a:pPr algn="l" indent="0" marL="0">
              <a:lnSpc>
                <a:spcPts val="416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 in with your school </a:t>
            </a: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email account.</a:t>
            </a:r>
            <a:endParaRPr lang="en-US" sz="3200" dirty="0"/>
          </a:p>
        </p:txBody>
      </p:sp>
      <p:pic>
        <p:nvPicPr>
          <p:cNvPr id="7" name="access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874500" y="4216400"/>
            <a:ext cx="3619500" cy="3619500"/>
          </a:xfrm>
          <a:prstGeom prst="rect">
            <a:avLst/>
          </a:prstGeom>
        </p:spPr>
      </p:pic>
      <p:sp>
        <p:nvSpPr>
          <p:cNvPr id="8" name="acces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acces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access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acces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acces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acces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ditions-text-2"/>
          <p:cNvSpPr/>
          <p:nvPr/>
        </p:nvSpPr>
        <p:spPr>
          <a:xfrm>
            <a:off x="762000" y="8890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is a different service—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“paid retail”.</a:t>
            </a:r>
            <a:endParaRPr lang="en-US" sz="5400" dirty="0"/>
          </a:p>
        </p:txBody>
      </p:sp>
      <p:sp>
        <p:nvSpPr>
          <p:cNvPr id="4" name="editions-shape-3"/>
          <p:cNvSpPr/>
          <p:nvPr/>
        </p:nvSpPr>
        <p:spPr>
          <a:xfrm>
            <a:off x="762000" y="3098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ditions-text-4"/>
          <p:cNvSpPr/>
          <p:nvPr/>
        </p:nvSpPr>
        <p:spPr>
          <a:xfrm>
            <a:off x="762000" y="3657600"/>
            <a:ext cx="1473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School-managed access and sharing.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Cloud data protections.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can differ by version and region.</a:t>
            </a:r>
            <a:endParaRPr lang="en-US" sz="3400" dirty="0"/>
          </a:p>
        </p:txBody>
      </p:sp>
      <p:sp>
        <p:nvSpPr>
          <p:cNvPr id="6" name="editions-shape-5"/>
          <p:cNvSpPr/>
          <p:nvPr/>
        </p:nvSpPr>
        <p:spPr>
          <a:xfrm>
            <a:off x="762000" y="65532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ditions-text-6"/>
          <p:cNvSpPr/>
          <p:nvPr/>
        </p:nvSpPr>
        <p:spPr>
          <a:xfrm>
            <a:off x="762000" y="69977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/ retail ≠ Workspace / Education ≠ Cloud Enterprise</a:t>
            </a:r>
            <a:endParaRPr lang="en-US" sz="2600" dirty="0"/>
          </a:p>
        </p:txBody>
      </p:sp>
      <p:sp>
        <p:nvSpPr>
          <p:cNvPr id="8" name="edi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di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di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di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di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di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afety-text-2"/>
          <p:cNvSpPr/>
          <p:nvPr/>
        </p:nvSpPr>
        <p:spPr>
          <a:xfrm>
            <a:off x="762000" y="889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does not mean</a:t>
            </a:r>
            <a:endParaRPr lang="en-US" sz="5600" dirty="0"/>
          </a:p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“upload anything”.</a:t>
            </a:r>
            <a:endParaRPr lang="en-US" sz="5600" dirty="0"/>
          </a:p>
        </p:txBody>
      </p:sp>
      <p:sp>
        <p:nvSpPr>
          <p:cNvPr id="4" name="safety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afety-text-4"/>
          <p:cNvSpPr/>
          <p:nvPr/>
        </p:nvSpPr>
        <p:spPr>
          <a:xfrm>
            <a:off x="762000" y="3644900"/>
            <a:ext cx="14732000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approved, non-sensitive sources.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sharing and citations.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teaching or grading.</a:t>
            </a:r>
            <a:endParaRPr lang="en-US" sz="3400" dirty="0"/>
          </a:p>
        </p:txBody>
      </p:sp>
      <p:sp>
        <p:nvSpPr>
          <p:cNvPr id="6" name="safety-shape-5"/>
          <p:cNvSpPr/>
          <p:nvPr/>
        </p:nvSpPr>
        <p:spPr>
          <a:xfrm>
            <a:off x="762000" y="63373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safety-text-6"/>
          <p:cNvSpPr/>
          <p:nvPr/>
        </p:nvSpPr>
        <p:spPr>
          <a:xfrm>
            <a:off x="762000" y="6743700"/>
            <a:ext cx="147320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terms: no model training or fine-tuning without customer permission or instruction.</a:t>
            </a:r>
            <a:endParaRPr lang="en-US" sz="2600" dirty="0"/>
          </a:p>
          <a:p>
            <a:pPr algn="l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policy, privacy duties and teacher judgement still apply.</a:t>
            </a:r>
            <a:endParaRPr lang="en-US" sz="2600" dirty="0"/>
          </a:p>
        </p:txBody>
      </p:sp>
      <p:sp>
        <p:nvSpPr>
          <p:cNvPr id="8" name="safety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safety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safety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safety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safety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safety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ecta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versions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different?</a:t>
            </a:r>
            <a:endParaRPr lang="en-US" sz="5700" dirty="0"/>
          </a:p>
        </p:txBody>
      </p:sp>
      <p:sp>
        <p:nvSpPr>
          <p:cNvPr id="4" name="expectations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ectations-text-4"/>
          <p:cNvSpPr/>
          <p:nvPr/>
        </p:nvSpPr>
        <p:spPr>
          <a:xfrm>
            <a:off x="762000" y="3733800"/>
            <a:ext cx="147320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rollouts can differ.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new features reach the retail version first.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version may receive these features later.</a:t>
            </a:r>
            <a:endParaRPr lang="en-US" sz="3400" dirty="0"/>
          </a:p>
        </p:txBody>
      </p:sp>
      <p:sp>
        <p:nvSpPr>
          <p:cNvPr id="6" name="expectations-shape-5"/>
          <p:cNvSpPr/>
          <p:nvPr/>
        </p:nvSpPr>
        <p:spPr>
          <a:xfrm>
            <a:off x="762000" y="65405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ectations-text-6"/>
          <p:cNvSpPr/>
          <p:nvPr/>
        </p:nvSpPr>
        <p:spPr>
          <a:xfrm>
            <a:off x="762000" y="68834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Unofficial explanation:</a:t>
            </a:r>
            <a:endParaRPr lang="en-US" sz="26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undergo additional stability testing before Enterprise release.</a:t>
            </a:r>
            <a:endParaRPr lang="en-US" sz="2600" dirty="0"/>
          </a:p>
        </p:txBody>
      </p:sp>
      <p:sp>
        <p:nvSpPr>
          <p:cNvPr id="8" name="expecta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xpecta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xpecta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xpecta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xpecta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xpecta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notebook_setup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workshop documents.</a:t>
            </a:r>
            <a:endParaRPr lang="en-US" sz="5700" dirty="0"/>
          </a:p>
        </p:txBody>
      </p:sp>
      <p:sp>
        <p:nvSpPr>
          <p:cNvPr id="4" name="notebook_setup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notebook_setup-shape-4"/>
          <p:cNvSpPr/>
          <p:nvPr/>
        </p:nvSpPr>
        <p:spPr>
          <a:xfrm>
            <a:off x="8280400" y="3556000"/>
            <a:ext cx="9144" cy="4051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notebook_setup-text-5"/>
          <p:cNvSpPr/>
          <p:nvPr/>
        </p:nvSpPr>
        <p:spPr>
          <a:xfrm>
            <a:off x="762000" y="36322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notebook_setup-text-6"/>
          <p:cNvSpPr/>
          <p:nvPr/>
        </p:nvSpPr>
        <p:spPr>
          <a:xfrm>
            <a:off x="1676400" y="3695700"/>
            <a:ext cx="615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3000" dirty="0"/>
          </a:p>
        </p:txBody>
      </p:sp>
      <p:sp>
        <p:nvSpPr>
          <p:cNvPr id="8" name="notebook_setup-text-7"/>
          <p:cNvSpPr/>
          <p:nvPr/>
        </p:nvSpPr>
        <p:spPr>
          <a:xfrm>
            <a:off x="762000" y="4787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notebook_setup-text-8"/>
          <p:cNvSpPr/>
          <p:nvPr/>
        </p:nvSpPr>
        <p:spPr>
          <a:xfrm>
            <a:off x="1676400" y="4851400"/>
            <a:ext cx="6159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it: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Education Blueprint</a:t>
            </a:r>
            <a:endParaRPr lang="en-US" sz="3000" dirty="0"/>
          </a:p>
        </p:txBody>
      </p:sp>
      <p:sp>
        <p:nvSpPr>
          <p:cNvPr id="10" name="notebook_setup-text-9"/>
          <p:cNvSpPr/>
          <p:nvPr/>
        </p:nvSpPr>
        <p:spPr>
          <a:xfrm>
            <a:off x="762000" y="6438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notebook_setup-text-10"/>
          <p:cNvSpPr/>
          <p:nvPr/>
        </p:nvSpPr>
        <p:spPr>
          <a:xfrm>
            <a:off x="1676400" y="6502400"/>
            <a:ext cx="615950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both PDFs.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until the sources are ready.</a:t>
            </a:r>
            <a:endParaRPr lang="en-US" sz="3000" dirty="0"/>
          </a:p>
        </p:txBody>
      </p:sp>
      <p:sp>
        <p:nvSpPr>
          <p:cNvPr id="12" name="notebook_setup-text-11"/>
          <p:cNvSpPr/>
          <p:nvPr/>
        </p:nvSpPr>
        <p:spPr>
          <a:xfrm>
            <a:off x="8890000" y="3695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version</a:t>
            </a:r>
            <a:endParaRPr lang="en-US" sz="2800" dirty="0"/>
          </a:p>
        </p:txBody>
      </p:sp>
      <p:sp>
        <p:nvSpPr>
          <p:cNvPr id="13" name="notebook_setup-text-12"/>
          <p:cNvSpPr/>
          <p:nvPr/>
        </p:nvSpPr>
        <p:spPr>
          <a:xfrm>
            <a:off x="8890000" y="4381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DigitalEducationBlueprint(Chinese).pdf</a:t>
            </a:r>
            <a:endParaRPr lang="en-US" sz="2500" dirty="0"/>
          </a:p>
        </p:txBody>
      </p:sp>
      <p:sp>
        <p:nvSpPr>
          <p:cNvPr id="14" name="notebook_setup-shape-13"/>
          <p:cNvSpPr/>
          <p:nvPr/>
        </p:nvSpPr>
        <p:spPr>
          <a:xfrm>
            <a:off x="8890000" y="5600700"/>
            <a:ext cx="6604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notebook_setup-text-14"/>
          <p:cNvSpPr/>
          <p:nvPr/>
        </p:nvSpPr>
        <p:spPr>
          <a:xfrm>
            <a:off x="8890000" y="5981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version</a:t>
            </a:r>
            <a:endParaRPr lang="en-US" sz="2800" dirty="0"/>
          </a:p>
        </p:txBody>
      </p:sp>
      <p:sp>
        <p:nvSpPr>
          <p:cNvPr id="16" name="notebook_setup-text-15"/>
          <p:cNvSpPr/>
          <p:nvPr/>
        </p:nvSpPr>
        <p:spPr>
          <a:xfrm>
            <a:off x="8890000" y="6667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DigitalEducationBlueprint(English).pdf</a:t>
            </a:r>
            <a:endParaRPr lang="en-US" sz="2500" dirty="0"/>
          </a:p>
        </p:txBody>
      </p:sp>
      <p:sp>
        <p:nvSpPr>
          <p:cNvPr id="17" name="notebook_setup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notebook_setup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notebook_setup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notebook_setup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notebook_setup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notebook_setup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instruc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instructions.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answers.</a:t>
            </a:r>
            <a:endParaRPr lang="en-US" sz="5700" dirty="0"/>
          </a:p>
        </p:txBody>
      </p:sp>
      <p:sp>
        <p:nvSpPr>
          <p:cNvPr id="4" name="instructions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instructions-text-4"/>
          <p:cNvSpPr/>
          <p:nvPr/>
        </p:nvSpPr>
        <p:spPr>
          <a:xfrm>
            <a:off x="762000" y="3606800"/>
            <a:ext cx="14732000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 only relevant sources.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a short teacher instruction in Chat settings.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audience, task, format—and ask for evidence.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Check, then refine.</a:t>
            </a:r>
            <a:endParaRPr lang="en-US" sz="3200" dirty="0"/>
          </a:p>
        </p:txBody>
      </p:sp>
      <p:sp>
        <p:nvSpPr>
          <p:cNvPr id="6" name="instructions-shape-5"/>
          <p:cNvSpPr/>
          <p:nvPr/>
        </p:nvSpPr>
        <p:spPr>
          <a:xfrm>
            <a:off x="762000" y="68961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instructions-text-6"/>
          <p:cNvSpPr/>
          <p:nvPr/>
        </p:nvSpPr>
        <p:spPr>
          <a:xfrm>
            <a:off x="762000" y="7264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whom? Do what? In what format? With what limits?</a:t>
            </a:r>
            <a:endParaRPr lang="en-US" sz="2600" dirty="0"/>
          </a:p>
        </p:txBody>
      </p:sp>
      <p:sp>
        <p:nvSpPr>
          <p:cNvPr id="8" name="instruc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instruc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instruc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instruc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instruc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instruc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_activity-text-2"/>
          <p:cNvSpPr/>
          <p:nvPr/>
        </p:nvSpPr>
        <p:spPr>
          <a:xfrm>
            <a:off x="762000" y="889000"/>
            <a:ext cx="14732000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Explore.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relevant sources.</a:t>
            </a:r>
            <a:endParaRPr lang="en-US" sz="5400" dirty="0"/>
          </a:p>
        </p:txBody>
      </p:sp>
      <p:sp>
        <p:nvSpPr>
          <p:cNvPr id="4" name="explore_activity-shape-3"/>
          <p:cNvSpPr/>
          <p:nvPr/>
        </p:nvSpPr>
        <p:spPr>
          <a:xfrm>
            <a:off x="762000" y="28956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_activity-text-4"/>
          <p:cNvSpPr/>
          <p:nvPr/>
        </p:nvSpPr>
        <p:spPr>
          <a:xfrm>
            <a:off x="762000" y="33147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explore_activity-text-5"/>
          <p:cNvSpPr/>
          <p:nvPr/>
        </p:nvSpPr>
        <p:spPr>
          <a:xfrm>
            <a:off x="1651000" y="3352800"/>
            <a:ext cx="6184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Blueprint notebook:</a:t>
            </a:r>
            <a:endParaRPr lang="en-US" sz="28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(來源)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Explore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(探索)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explore_activity-text-6"/>
          <p:cNvSpPr/>
          <p:nvPr/>
        </p:nvSpPr>
        <p:spPr>
          <a:xfrm>
            <a:off x="762000" y="45720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explore_activity-text-7"/>
          <p:cNvSpPr/>
          <p:nvPr/>
        </p:nvSpPr>
        <p:spPr>
          <a:xfrm>
            <a:off x="1651000" y="46101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guidance related to the Blueprint. Be specific.</a:t>
            </a:r>
            <a:endParaRPr lang="en-US" sz="2800" dirty="0"/>
          </a:p>
        </p:txBody>
      </p:sp>
      <p:sp>
        <p:nvSpPr>
          <p:cNvPr id="9" name="explore_activity-text-8"/>
          <p:cNvSpPr/>
          <p:nvPr/>
        </p:nvSpPr>
        <p:spPr>
          <a:xfrm>
            <a:off x="762000" y="58166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explore_activity-text-9"/>
          <p:cNvSpPr/>
          <p:nvPr/>
        </p:nvSpPr>
        <p:spPr>
          <a:xfrm>
            <a:off x="1651000" y="58547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results; add 1–2 relevant, trustworthy sources.</a:t>
            </a:r>
            <a:endParaRPr lang="en-US" sz="2800" dirty="0"/>
          </a:p>
        </p:txBody>
      </p:sp>
      <p:pic>
        <p:nvPicPr>
          <p:cNvPr id="11" name="explore_activity-image-10" descr="preencoded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8382000" y="3327400"/>
            <a:ext cx="7112000" cy="3441700"/>
          </a:xfrm>
          <a:prstGeom prst="rect">
            <a:avLst/>
          </a:prstGeom>
        </p:spPr>
      </p:pic>
      <p:sp>
        <p:nvSpPr>
          <p:cNvPr id="12" name="explore_activity-shape-11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3" name="explore_activity-shape-12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4" name="explore_activity-image-13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5" name="explore_activity-text-14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6" name="explore_activity-text-15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7" name="explore_activity-text-16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-text-2"/>
          <p:cNvSpPr/>
          <p:nvPr/>
        </p:nvSpPr>
        <p:spPr>
          <a:xfrm>
            <a:off x="762000" y="889000"/>
            <a:ext cx="1473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sources</a:t>
            </a:r>
            <a:endParaRPr lang="en-US" sz="5000" dirty="0"/>
          </a:p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sources are required?</a:t>
            </a:r>
            <a:endParaRPr lang="en-US" sz="5000" dirty="0"/>
          </a:p>
        </p:txBody>
      </p:sp>
      <p:sp>
        <p:nvSpPr>
          <p:cNvPr id="4" name="explore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-text-4"/>
          <p:cNvSpPr/>
          <p:nvPr/>
        </p:nvSpPr>
        <p:spPr>
          <a:xfrm>
            <a:off x="762000" y="3683000"/>
            <a:ext cx="8864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broad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documents on digital education</a:t>
            </a:r>
            <a:endParaRPr lang="en-US" sz="3200" dirty="0"/>
          </a:p>
        </p:txBody>
      </p:sp>
      <p:sp>
        <p:nvSpPr>
          <p:cNvPr id="6" name="explore-shape-5"/>
          <p:cNvSpPr/>
          <p:nvPr/>
        </p:nvSpPr>
        <p:spPr>
          <a:xfrm>
            <a:off x="762000" y="5346700"/>
            <a:ext cx="88646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lore-text-6"/>
          <p:cNvSpPr/>
          <p:nvPr/>
        </p:nvSpPr>
        <p:spPr>
          <a:xfrm>
            <a:off x="762000" y="5676900"/>
            <a:ext cx="8864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specific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government documents on digital education</a:t>
            </a:r>
            <a:endParaRPr lang="en-US" sz="3200" dirty="0"/>
          </a:p>
        </p:txBody>
      </p:sp>
      <p:pic>
        <p:nvPicPr>
          <p:cNvPr id="8" name="explore-image-7" descr="preencoded.png">    </p:cNvPr>
          <p:cNvPicPr>
            <a:picLocks noChangeAspect="1"/>
          </p:cNvPicPr>
          <p:nvPr/>
        </p:nvPicPr>
        <p:blipFill>
          <a:blip r:embed="rId2"/>
          <a:srcRect l="0" r="0" t="-15090" b="-15090"/>
          <a:stretch/>
        </p:blipFill>
        <p:spPr>
          <a:xfrm>
            <a:off x="10096500" y="3225800"/>
            <a:ext cx="5397500" cy="4635500"/>
          </a:xfrm>
          <a:prstGeom prst="rect">
            <a:avLst/>
          </a:prstGeom>
        </p:spPr>
      </p:pic>
      <p:sp>
        <p:nvSpPr>
          <p:cNvPr id="9" name="explore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explore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explore-image-10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explore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explore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explore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chat-text-2"/>
          <p:cNvSpPr/>
          <p:nvPr/>
        </p:nvSpPr>
        <p:spPr>
          <a:xfrm>
            <a:off x="762000" y="825500"/>
            <a:ext cx="147320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chat how</a:t>
            </a:r>
            <a:endParaRPr lang="en-US" sz="5300" dirty="0"/>
          </a:p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organise the answer.</a:t>
            </a:r>
            <a:endParaRPr lang="en-US" sz="5300" dirty="0"/>
          </a:p>
        </p:txBody>
      </p:sp>
      <p:sp>
        <p:nvSpPr>
          <p:cNvPr id="4" name="chat-text-3"/>
          <p:cNvSpPr/>
          <p:nvPr/>
        </p:nvSpPr>
        <p:spPr>
          <a:xfrm>
            <a:off x="762000" y="27305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form: how many? · Table: column count + names · Steps: numbering</a:t>
            </a:r>
            <a:endParaRPr lang="en-US" sz="2600" dirty="0"/>
          </a:p>
        </p:txBody>
      </p:sp>
      <p:sp>
        <p:nvSpPr>
          <p:cNvPr id="5" name="chat-shape-4"/>
          <p:cNvSpPr/>
          <p:nvPr/>
        </p:nvSpPr>
        <p:spPr>
          <a:xfrm>
            <a:off x="762000" y="3390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chat-text-5"/>
          <p:cNvSpPr/>
          <p:nvPr/>
        </p:nvSpPr>
        <p:spPr>
          <a:xfrm>
            <a:off x="762000" y="3835400"/>
            <a:ext cx="14732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altLang="en-US" sz="3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Vague:</a:t>
            </a:r>
            <a:r>
              <a:rPr lang="en-US" altLang="en-US" sz="3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“Summarise this in a table.”</a:t>
            </a:r>
            <a:endParaRPr lang="en-US" sz="3000" dirty="0"/>
          </a:p>
        </p:txBody>
      </p:sp>
      <p:sp>
        <p:nvSpPr>
          <p:cNvPr id="7" name="chat-text-6"/>
          <p:cNvSpPr/>
          <p:nvPr/>
        </p:nvSpPr>
        <p:spPr>
          <a:xfrm>
            <a:off x="762000" y="4965700"/>
            <a:ext cx="14732000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Clear:</a:t>
            </a: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four-column table: Key point; Document statement;</a:t>
            </a:r>
            <a:endParaRPr lang="en-US" sz="3100" dirty="0"/>
          </a:p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implication; Citation. Keep cells brief.</a:t>
            </a:r>
            <a:endParaRPr lang="en-US" sz="3100" dirty="0"/>
          </a:p>
        </p:txBody>
      </p:sp>
      <p:graphicFrame>
        <p:nvGraphicFramePr>
          <p:cNvPr id="13" name="chat-table-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527800"/>
          <a:ext cx="14732000" cy="7112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4419600"/>
                <a:gridCol w="2946400"/>
              </a:tblGrid>
              <a:tr h="711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point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statement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 implication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chat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hat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hat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hat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8" name="chat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hat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actice-text-2"/>
          <p:cNvSpPr/>
          <p:nvPr/>
        </p:nvSpPr>
        <p:spPr>
          <a:xfrm>
            <a:off x="762000" y="812800"/>
            <a:ext cx="1473200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generate,</a:t>
            </a:r>
            <a:endParaRPr lang="en-US" sz="55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customise, compare.</a:t>
            </a:r>
            <a:endParaRPr lang="en-US" sz="5500" dirty="0"/>
          </a:p>
        </p:txBody>
      </p:sp>
      <p:sp>
        <p:nvSpPr>
          <p:cNvPr id="4" name="practice-shape-3"/>
          <p:cNvSpPr/>
          <p:nvPr/>
        </p:nvSpPr>
        <p:spPr>
          <a:xfrm>
            <a:off x="762000" y="28194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actice-shape-4"/>
          <p:cNvSpPr/>
          <p:nvPr/>
        </p:nvSpPr>
        <p:spPr>
          <a:xfrm>
            <a:off x="55499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actice-shape-5"/>
          <p:cNvSpPr/>
          <p:nvPr/>
        </p:nvSpPr>
        <p:spPr>
          <a:xfrm>
            <a:off x="107061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practice-text-6"/>
          <p:cNvSpPr/>
          <p:nvPr/>
        </p:nvSpPr>
        <p:spPr>
          <a:xfrm>
            <a:off x="7620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0" dirty="0"/>
          </a:p>
        </p:txBody>
      </p:sp>
      <p:sp>
        <p:nvSpPr>
          <p:cNvPr id="8" name="practice-text-7"/>
          <p:cNvSpPr/>
          <p:nvPr/>
        </p:nvSpPr>
        <p:spPr>
          <a:xfrm>
            <a:off x="59055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0" dirty="0"/>
          </a:p>
        </p:txBody>
      </p:sp>
      <p:sp>
        <p:nvSpPr>
          <p:cNvPr id="9" name="practice-text-8"/>
          <p:cNvSpPr/>
          <p:nvPr/>
        </p:nvSpPr>
        <p:spPr>
          <a:xfrm>
            <a:off x="11049000" y="30734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practice-text-9"/>
          <p:cNvSpPr/>
          <p:nvPr/>
        </p:nvSpPr>
        <p:spPr>
          <a:xfrm>
            <a:off x="7620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</a:t>
            </a:r>
            <a:endParaRPr lang="en-US" sz="2900" dirty="0"/>
          </a:p>
        </p:txBody>
      </p:sp>
      <p:sp>
        <p:nvSpPr>
          <p:cNvPr id="11" name="practice-text-10"/>
          <p:cNvSpPr/>
          <p:nvPr/>
        </p:nvSpPr>
        <p:spPr>
          <a:xfrm>
            <a:off x="59055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 B</a:t>
            </a:r>
            <a:endParaRPr lang="en-US" sz="2900" dirty="0"/>
          </a:p>
        </p:txBody>
      </p:sp>
      <p:sp>
        <p:nvSpPr>
          <p:cNvPr id="12" name="practice-text-11"/>
          <p:cNvSpPr/>
          <p:nvPr/>
        </p:nvSpPr>
        <p:spPr>
          <a:xfrm>
            <a:off x="11049000" y="4724400"/>
            <a:ext cx="444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&amp; B</a:t>
            </a:r>
            <a:endParaRPr lang="en-US" sz="2900" dirty="0"/>
          </a:p>
        </p:txBody>
      </p:sp>
      <p:sp>
        <p:nvSpPr>
          <p:cNvPr id="13" name="practice-text-12"/>
          <p:cNvSpPr/>
          <p:nvPr/>
        </p:nvSpPr>
        <p:spPr>
          <a:xfrm>
            <a:off x="762000" y="5486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customisation.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as Version A.</a:t>
            </a:r>
            <a:endParaRPr lang="en-US" sz="2500" dirty="0"/>
          </a:p>
        </p:txBody>
      </p:sp>
      <p:sp>
        <p:nvSpPr>
          <p:cNvPr id="14" name="practice-text-13"/>
          <p:cNvSpPr/>
          <p:nvPr/>
        </p:nvSpPr>
        <p:spPr>
          <a:xfrm>
            <a:off x="5905500" y="54864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⋮ → Customise </a:t>
            </a:r>
            <a:r>
              <a:rPr lang="en-US" altLang="en-US" sz="2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自訂</a:t>
            </a: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audience and focus.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Version B.</a:t>
            </a:r>
            <a:endParaRPr lang="en-US" sz="2300" dirty="0"/>
          </a:p>
        </p:txBody>
      </p:sp>
      <p:sp>
        <p:nvSpPr>
          <p:cNvPr id="15" name="practice-text-14"/>
          <p:cNvSpPr/>
          <p:nvPr/>
        </p:nvSpPr>
        <p:spPr>
          <a:xfrm>
            <a:off x="11049000" y="5486400"/>
            <a:ext cx="444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relevant? Clearer?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useful for teaching?</a:t>
            </a:r>
            <a:endParaRPr lang="en-US" sz="2500" dirty="0"/>
          </a:p>
        </p:txBody>
      </p:sp>
      <p:sp>
        <p:nvSpPr>
          <p:cNvPr id="16" name="practice-text-15"/>
          <p:cNvSpPr/>
          <p:nvPr/>
        </p:nvSpPr>
        <p:spPr>
          <a:xfrm>
            <a:off x="762000" y="73660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Studio tool, selected sources and output language the same.</a:t>
            </a:r>
            <a:endParaRPr lang="en-US" sz="2500" dirty="0"/>
          </a:p>
        </p:txBody>
      </p:sp>
      <p:sp>
        <p:nvSpPr>
          <p:cNvPr id="17" name="practice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actice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practice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practice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practice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practice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adlet-text-2"/>
          <p:cNvSpPr/>
          <p:nvPr/>
        </p:nvSpPr>
        <p:spPr>
          <a:xfrm>
            <a:off x="762000" y="889000"/>
            <a:ext cx="14732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comparison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Padlet.</a:t>
            </a:r>
            <a:endParaRPr lang="en-US" sz="5400" dirty="0"/>
          </a:p>
        </p:txBody>
      </p:sp>
      <p:sp>
        <p:nvSpPr>
          <p:cNvPr id="4" name="padlet-shape-3"/>
          <p:cNvSpPr/>
          <p:nvPr/>
        </p:nvSpPr>
        <p:spPr>
          <a:xfrm>
            <a:off x="762000" y="2832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adlet-text-4"/>
          <p:cNvSpPr/>
          <p:nvPr/>
        </p:nvSpPr>
        <p:spPr>
          <a:xfrm>
            <a:off x="762000" y="3784600"/>
            <a:ext cx="89408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603250" indent="-603250">
              <a:lnSpc>
                <a:spcPts val="4864"/>
              </a:lnSpc>
              <a:spcBef>
                <a:spcPts val="10"/>
              </a:spcBef>
              <a:spcAft>
                <a:spcPts val="3600"/>
              </a:spcAft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product or readable screenshots.</a:t>
            </a:r>
            <a:endParaRPr lang="en-US" sz="3800" dirty="0"/>
          </a:p>
          <a:p>
            <a:pPr algn="l" marL="603250" indent="-603250">
              <a:lnSpc>
                <a:spcPts val="48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Briefly describe its purpose and what changed.</a:t>
            </a:r>
            <a:endParaRPr lang="en-US" sz="3800" dirty="0"/>
          </a:p>
        </p:txBody>
      </p:sp>
      <p:sp>
        <p:nvSpPr>
          <p:cNvPr id="6" name="padlet-text-5"/>
          <p:cNvSpPr/>
          <p:nvPr/>
        </p:nvSpPr>
        <p:spPr>
          <a:xfrm>
            <a:off x="762000" y="7048500"/>
            <a:ext cx="8940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workshop Padlet →</a:t>
            </a:r>
            <a:endParaRPr lang="en-US" sz="3100" dirty="0"/>
          </a:p>
        </p:txBody>
      </p:sp>
      <p:pic>
        <p:nvPicPr>
          <p:cNvPr id="7" name="padlet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90200" y="3086100"/>
            <a:ext cx="4826000" cy="4826000"/>
          </a:xfrm>
          <a:prstGeom prst="rect">
            <a:avLst/>
          </a:prstGeom>
        </p:spPr>
      </p:pic>
      <p:sp>
        <p:nvSpPr>
          <p:cNvPr id="8" name="padlet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adlet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padlet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padlet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padlet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padlet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ompt_menu-text-2"/>
          <p:cNvSpPr/>
          <p:nvPr/>
        </p:nvSpPr>
        <p:spPr>
          <a:xfrm>
            <a:off x="762000" y="9525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useful prompts for teachers.</a:t>
            </a:r>
            <a:endParaRPr lang="en-US" sz="5400" dirty="0"/>
          </a:p>
        </p:txBody>
      </p:sp>
      <p:sp>
        <p:nvSpPr>
          <p:cNvPr id="4" name="prompt_menu-shape-3"/>
          <p:cNvSpPr/>
          <p:nvPr/>
        </p:nvSpPr>
        <p:spPr>
          <a:xfrm>
            <a:off x="762000" y="2247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ompt_menu-shape-4"/>
          <p:cNvSpPr/>
          <p:nvPr/>
        </p:nvSpPr>
        <p:spPr>
          <a:xfrm>
            <a:off x="8140700" y="2717800"/>
            <a:ext cx="9144" cy="4813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ompt_menu-text-5"/>
          <p:cNvSpPr/>
          <p:nvPr/>
        </p:nvSpPr>
        <p:spPr>
          <a:xfrm>
            <a:off x="7620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7" name="prompt_menu-text-6"/>
          <p:cNvSpPr/>
          <p:nvPr/>
        </p:nvSpPr>
        <p:spPr>
          <a:xfrm>
            <a:off x="1536700" y="2717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materials against HKDSE requirements</a:t>
            </a:r>
            <a:endParaRPr lang="en-US" sz="2600" dirty="0"/>
          </a:p>
        </p:txBody>
      </p:sp>
      <p:sp>
        <p:nvSpPr>
          <p:cNvPr id="8" name="prompt_menu-shape-7"/>
          <p:cNvSpPr/>
          <p:nvPr/>
        </p:nvSpPr>
        <p:spPr>
          <a:xfrm>
            <a:off x="762000" y="3606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rompt_menu-text-8"/>
          <p:cNvSpPr/>
          <p:nvPr/>
        </p:nvSpPr>
        <p:spPr>
          <a:xfrm>
            <a:off x="7620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0" name="prompt_menu-text-9"/>
          <p:cNvSpPr/>
          <p:nvPr/>
        </p:nvSpPr>
        <p:spPr>
          <a:xfrm>
            <a:off x="1536700" y="3733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 HKEAA briefing into revision-teaching notes</a:t>
            </a:r>
            <a:endParaRPr lang="en-US" sz="2600" dirty="0"/>
          </a:p>
        </p:txBody>
      </p:sp>
      <p:sp>
        <p:nvSpPr>
          <p:cNvPr id="11" name="prompt_menu-shape-10"/>
          <p:cNvSpPr/>
          <p:nvPr/>
        </p:nvSpPr>
        <p:spPr>
          <a:xfrm>
            <a:off x="762000" y="4622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2" name="prompt_menu-text-11"/>
          <p:cNvSpPr/>
          <p:nvPr/>
        </p:nvSpPr>
        <p:spPr>
          <a:xfrm>
            <a:off x="7620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13" name="prompt_menu-text-12"/>
          <p:cNvSpPr/>
          <p:nvPr/>
        </p:nvSpPr>
        <p:spPr>
          <a:xfrm>
            <a:off x="1536700" y="4749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 HKDSE lesson with an exit ticket</a:t>
            </a:r>
            <a:endParaRPr lang="en-US" sz="2600" dirty="0"/>
          </a:p>
        </p:txBody>
      </p:sp>
      <p:sp>
        <p:nvSpPr>
          <p:cNvPr id="14" name="prompt_menu-shape-13"/>
          <p:cNvSpPr/>
          <p:nvPr/>
        </p:nvSpPr>
        <p:spPr>
          <a:xfrm>
            <a:off x="762000" y="5638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prompt_menu-text-14"/>
          <p:cNvSpPr/>
          <p:nvPr/>
        </p:nvSpPr>
        <p:spPr>
          <a:xfrm>
            <a:off x="7620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00" dirty="0"/>
          </a:p>
        </p:txBody>
      </p:sp>
      <p:sp>
        <p:nvSpPr>
          <p:cNvPr id="16" name="prompt_menu-text-15"/>
          <p:cNvSpPr/>
          <p:nvPr/>
        </p:nvSpPr>
        <p:spPr>
          <a:xfrm>
            <a:off x="1536700" y="5765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different levels—keep the same learning goal</a:t>
            </a:r>
            <a:endParaRPr lang="en-US" sz="2600" dirty="0"/>
          </a:p>
        </p:txBody>
      </p:sp>
      <p:sp>
        <p:nvSpPr>
          <p:cNvPr id="17" name="prompt_menu-shape-16"/>
          <p:cNvSpPr/>
          <p:nvPr/>
        </p:nvSpPr>
        <p:spPr>
          <a:xfrm>
            <a:off x="762000" y="6654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ompt_menu-text-17"/>
          <p:cNvSpPr/>
          <p:nvPr/>
        </p:nvSpPr>
        <p:spPr>
          <a:xfrm>
            <a:off x="7620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100" dirty="0"/>
          </a:p>
        </p:txBody>
      </p:sp>
      <p:sp>
        <p:nvSpPr>
          <p:cNvPr id="19" name="prompt_menu-text-18"/>
          <p:cNvSpPr/>
          <p:nvPr/>
        </p:nvSpPr>
        <p:spPr>
          <a:xfrm>
            <a:off x="1536700" y="6781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HKDSE-style practice and a separate answer key</a:t>
            </a:r>
            <a:endParaRPr lang="en-US" sz="2600" dirty="0"/>
          </a:p>
        </p:txBody>
      </p:sp>
      <p:sp>
        <p:nvSpPr>
          <p:cNvPr id="20" name="prompt_menu-text-19"/>
          <p:cNvSpPr/>
          <p:nvPr/>
        </p:nvSpPr>
        <p:spPr>
          <a:xfrm>
            <a:off x="85852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100" dirty="0"/>
          </a:p>
        </p:txBody>
      </p:sp>
      <p:sp>
        <p:nvSpPr>
          <p:cNvPr id="21" name="prompt_menu-text-20"/>
          <p:cNvSpPr/>
          <p:nvPr/>
        </p:nvSpPr>
        <p:spPr>
          <a:xfrm>
            <a:off x="9359900" y="2717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fictional errors into feedback and reteaching</a:t>
            </a:r>
            <a:endParaRPr lang="en-US" sz="2600" dirty="0"/>
          </a:p>
        </p:txBody>
      </p:sp>
      <p:sp>
        <p:nvSpPr>
          <p:cNvPr id="22" name="prompt_menu-shape-21"/>
          <p:cNvSpPr/>
          <p:nvPr/>
        </p:nvSpPr>
        <p:spPr>
          <a:xfrm>
            <a:off x="8585200" y="3606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3" name="prompt_menu-text-22"/>
          <p:cNvSpPr/>
          <p:nvPr/>
        </p:nvSpPr>
        <p:spPr>
          <a:xfrm>
            <a:off x="85852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100" dirty="0"/>
          </a:p>
        </p:txBody>
      </p:sp>
      <p:sp>
        <p:nvSpPr>
          <p:cNvPr id="24" name="prompt_menu-text-23"/>
          <p:cNvSpPr/>
          <p:nvPr/>
        </p:nvSpPr>
        <p:spPr>
          <a:xfrm>
            <a:off x="9359900" y="3733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teaching or assessment draft before use</a:t>
            </a:r>
            <a:endParaRPr lang="en-US" sz="2600" dirty="0"/>
          </a:p>
        </p:txBody>
      </p:sp>
      <p:sp>
        <p:nvSpPr>
          <p:cNvPr id="25" name="prompt_menu-shape-24"/>
          <p:cNvSpPr/>
          <p:nvPr/>
        </p:nvSpPr>
        <p:spPr>
          <a:xfrm>
            <a:off x="8585200" y="4622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6" name="prompt_menu-text-25"/>
          <p:cNvSpPr/>
          <p:nvPr/>
        </p:nvSpPr>
        <p:spPr>
          <a:xfrm>
            <a:off x="85852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100" dirty="0"/>
          </a:p>
        </p:txBody>
      </p:sp>
      <p:sp>
        <p:nvSpPr>
          <p:cNvPr id="27" name="prompt_menu-text-26"/>
          <p:cNvSpPr/>
          <p:nvPr/>
        </p:nvSpPr>
        <p:spPr>
          <a:xfrm>
            <a:off x="9359900" y="4749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long EDB document into a staff briefing</a:t>
            </a:r>
            <a:endParaRPr lang="en-US" sz="2600" dirty="0"/>
          </a:p>
        </p:txBody>
      </p:sp>
      <p:sp>
        <p:nvSpPr>
          <p:cNvPr id="28" name="prompt_menu-shape-27"/>
          <p:cNvSpPr/>
          <p:nvPr/>
        </p:nvSpPr>
        <p:spPr>
          <a:xfrm>
            <a:off x="8585200" y="5638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9" name="prompt_menu-text-28"/>
          <p:cNvSpPr/>
          <p:nvPr/>
        </p:nvSpPr>
        <p:spPr>
          <a:xfrm>
            <a:off x="85852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100" dirty="0"/>
          </a:p>
        </p:txBody>
      </p:sp>
      <p:sp>
        <p:nvSpPr>
          <p:cNvPr id="30" name="prompt_menu-text-29"/>
          <p:cNvSpPr/>
          <p:nvPr/>
        </p:nvSpPr>
        <p:spPr>
          <a:xfrm>
            <a:off x="9359900" y="5765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actions, dates and unanswered questions</a:t>
            </a:r>
            <a:endParaRPr lang="en-US" sz="2600" dirty="0"/>
          </a:p>
        </p:txBody>
      </p:sp>
      <p:sp>
        <p:nvSpPr>
          <p:cNvPr id="31" name="prompt_menu-shape-30"/>
          <p:cNvSpPr/>
          <p:nvPr/>
        </p:nvSpPr>
        <p:spPr>
          <a:xfrm>
            <a:off x="8585200" y="6654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2" name="prompt_menu-text-31"/>
          <p:cNvSpPr/>
          <p:nvPr/>
        </p:nvSpPr>
        <p:spPr>
          <a:xfrm>
            <a:off x="85852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100" dirty="0"/>
          </a:p>
        </p:txBody>
      </p:sp>
      <p:sp>
        <p:nvSpPr>
          <p:cNvPr id="33" name="prompt_menu-text-32"/>
          <p:cNvSpPr/>
          <p:nvPr/>
        </p:nvSpPr>
        <p:spPr>
          <a:xfrm>
            <a:off x="9359900" y="6781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official documents: updates or contradictions?</a:t>
            </a:r>
            <a:endParaRPr lang="en-US" sz="2600" dirty="0"/>
          </a:p>
        </p:txBody>
      </p:sp>
      <p:sp>
        <p:nvSpPr>
          <p:cNvPr id="34" name="prompt_menu-shape-33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5" name="prompt_menu-shape-34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36" name="prompt_menu-image-35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37" name="prompt_menu-text-36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38" name="prompt_menu-text-37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39" name="prompt_menu-text-38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ontext-text-2"/>
          <p:cNvSpPr/>
          <p:nvPr/>
        </p:nvSpPr>
        <p:spPr>
          <a:xfrm>
            <a:off x="762000" y="889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5200" dirty="0"/>
          </a:p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S6 English reading materials.</a:t>
            </a:r>
            <a:endParaRPr lang="en-US" sz="5200" dirty="0"/>
          </a:p>
        </p:txBody>
      </p:sp>
      <p:sp>
        <p:nvSpPr>
          <p:cNvPr id="4" name="example_context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ontext-text-4"/>
          <p:cNvSpPr/>
          <p:nvPr/>
        </p:nvSpPr>
        <p:spPr>
          <a:xfrm>
            <a:off x="762000" y="30988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2800" dirty="0"/>
          </a:p>
        </p:txBody>
      </p:sp>
      <p:sp>
        <p:nvSpPr>
          <p:cNvPr id="6" name="example_context-text-5"/>
          <p:cNvSpPr/>
          <p:nvPr/>
        </p:nvSpPr>
        <p:spPr>
          <a:xfrm>
            <a:off x="762000" y="3683000"/>
            <a:ext cx="1473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planning S6 revision, an English teacher wants to know whether the school’s reading-comprehension notes address the skills identified in the selected official guidance.</a:t>
            </a:r>
            <a:endParaRPr lang="en-US" sz="3000" dirty="0"/>
          </a:p>
        </p:txBody>
      </p:sp>
      <p:sp>
        <p:nvSpPr>
          <p:cNvPr id="7" name="example_context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example_context-text-7"/>
          <p:cNvSpPr/>
          <p:nvPr/>
        </p:nvSpPr>
        <p:spPr>
          <a:xfrm>
            <a:off x="762000" y="5588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to add to Notebook</a:t>
            </a:r>
            <a:endParaRPr lang="en-US" sz="2800" dirty="0"/>
          </a:p>
        </p:txBody>
      </p:sp>
      <p:sp>
        <p:nvSpPr>
          <p:cNvPr id="9" name="example_context-text-8"/>
          <p:cNvSpPr/>
          <p:nvPr/>
        </p:nvSpPr>
        <p:spPr>
          <a:xfrm>
            <a:off x="762000" y="6223000"/>
            <a:ext cx="14732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Curriculum and Assessment Guide (Secondary 4 - 6)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Assessment Framework for HKDSE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related reading notes</a:t>
            </a:r>
            <a:endParaRPr lang="en-US" sz="2800" dirty="0"/>
          </a:p>
        </p:txBody>
      </p:sp>
      <p:sp>
        <p:nvSpPr>
          <p:cNvPr id="10" name="example_context-shape-9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example_context-shape-10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2" name="example_context-image-11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3" name="example_context-text-12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4" name="example_context-text-13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5" name="example_context-text-14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english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 </a:t>
            </a:r>
            <a:r>
              <a:rPr lang="en-US" altLang="en-US" sz="4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English prompt</a:t>
            </a:r>
            <a:endParaRPr lang="en-US" sz="4800" dirty="0"/>
          </a:p>
        </p:txBody>
      </p:sp>
      <p:sp>
        <p:nvSpPr>
          <p:cNvPr id="4" name="example_english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english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‘S6 Reading Revision — teacher notes’ with the selected HKDSE English Language Curriculum and Assessment Guide and assessment framework. Focus on reading comprehension and supporting answers with text evidence.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</a:t>
            </a: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four-column table</a:t>
            </a: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Official objective; Evidence in our notes; Coverage (clear / partial / not found); Suggested improvement. Cite both the guidance and our notes. End with three revision-teaching priorities.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curriculum objectives separate from exam rules. Flag anything not stated in the sources. ‘Not found’ refers only to the selected notes.</a:t>
            </a:r>
            <a:endParaRPr lang="en-US" sz="2900" dirty="0"/>
          </a:p>
          <a:p>
            <a:pPr algn="l" indent="0" marL="0">
              <a:lnSpc>
                <a:spcPts val="3422"/>
              </a:lnSpc>
              <a:buNone/>
            </a:pPr>
            <a:r>
              <a:rPr lang="en-US" altLang="en-US" sz="29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 English.</a:t>
            </a:r>
            <a:endParaRPr lang="en-US" sz="2900" dirty="0"/>
          </a:p>
        </p:txBody>
      </p:sp>
      <p:sp>
        <p:nvSpPr>
          <p:cNvPr id="6" name="example_english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english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english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english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english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english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hinese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 </a:t>
            </a:r>
            <a:r>
              <a:rPr lang="en-US" altLang="en-US" sz="48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繁體中文提示詞</a:t>
            </a:r>
            <a:endParaRPr lang="en-US" sz="4800" dirty="0"/>
          </a:p>
        </p:txBody>
      </p:sp>
      <p:sp>
        <p:nvSpPr>
          <p:cNvPr id="4" name="example_chinese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hinese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請把「S6 Reading Revision — teacher notes」與所選HKDSE英文科《課程及評估指引》及評核大綱比較，集中於閱讀理解及以文本證據支持答案。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</a:t>
            </a:r>
            <a:r>
              <a:rPr lang="en-US" altLang="en-US" sz="31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四欄表格</a:t>
            </a: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：官方目標；教材證據；涵蓋程度（清楚／部分／未找到）；改進建議。引用官方資料及筆記，最後列出三項溫習教學重點。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區分課程目標與考試規則。資料未有說明的內容，請指出。「未找到」只指所選筆記。</a:t>
            </a:r>
            <a:endParaRPr lang="en-US" sz="3100" dirty="0"/>
          </a:p>
          <a:p>
            <a:pPr algn="l" indent="0" marL="0">
              <a:lnSpc>
                <a:spcPts val="3906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請以繁體中文回答。</a:t>
            </a:r>
            <a:endParaRPr lang="en-US" sz="3100" dirty="0"/>
          </a:p>
        </p:txBody>
      </p:sp>
      <p:sp>
        <p:nvSpPr>
          <p:cNvPr id="6" name="example_chinese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chinese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chinese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chinese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chinese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chinese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qa-text-2"/>
          <p:cNvSpPr/>
          <p:nvPr/>
        </p:nvSpPr>
        <p:spPr>
          <a:xfrm>
            <a:off x="762000" y="825500"/>
            <a:ext cx="10985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Q&amp;A.</a:t>
            </a:r>
            <a:endParaRPr lang="en-US" sz="7800" dirty="0"/>
          </a:p>
        </p:txBody>
      </p:sp>
      <p:sp>
        <p:nvSpPr>
          <p:cNvPr id="4" name="qa-text-3"/>
          <p:cNvSpPr/>
          <p:nvPr/>
        </p:nvSpPr>
        <p:spPr>
          <a:xfrm>
            <a:off x="762000" y="26035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try</a:t>
            </a:r>
            <a:endParaRPr lang="en-US" sz="56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week?</a:t>
            </a:r>
            <a:endParaRPr lang="en-US" sz="5600" dirty="0"/>
          </a:p>
        </p:txBody>
      </p:sp>
      <p:sp>
        <p:nvSpPr>
          <p:cNvPr id="5" name="qa-shape-4"/>
          <p:cNvSpPr/>
          <p:nvPr/>
        </p:nvSpPr>
        <p:spPr>
          <a:xfrm>
            <a:off x="762000" y="4826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qa-text-5"/>
          <p:cNvSpPr/>
          <p:nvPr/>
        </p:nvSpPr>
        <p:spPr>
          <a:xfrm>
            <a:off x="762000" y="5372100"/>
            <a:ext cx="147320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teaching task.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improvement to your instructions.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Studio function that you will put to work.</a:t>
            </a:r>
            <a:endParaRPr lang="en-US" sz="3400" dirty="0"/>
          </a:p>
        </p:txBody>
      </p:sp>
      <p:sp>
        <p:nvSpPr>
          <p:cNvPr id="7" name="qa-shape-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qa-shape-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9" name="qa-image-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0" name="qa-text-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1" name="qa-text-1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2" name="qa-text-1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Notebook Workshop (Intermediate Level)</dc:title>
  <dc:subject>Gemini Notebook Workshop (Intermediate Level)</dc:subject>
  <dc:creator>Manus</dc:creator>
  <cp:lastModifiedBy>Manus</cp:lastModifiedBy>
  <cp:revision>1</cp:revision>
  <dcterms:created xsi:type="dcterms:W3CDTF">2026-10-11T12:14:12Z</dcterms:created>
  <dcterms:modified xsi:type="dcterms:W3CDTF">2026-10-11T12:14:12Z</dcterms:modified>
</cp:coreProperties>
</file>